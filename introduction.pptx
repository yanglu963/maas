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 autoCompressPictures="0">
  <p:sldMasterIdLst>
    <p:sldMasterId id="2147483648" r:id="rId1"/>
    <p:sldMasterId id="2147483671" r:id="rId3"/>
  </p:sldMasterIdLst>
  <p:notesMasterIdLst>
    <p:notesMasterId r:id="rId13"/>
  </p:notesMasterIdLst>
  <p:sldIdLst>
    <p:sldId id="277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EBA0B0B-428B-3848-B126-AD9196FE6A06}">
          <p14:sldIdLst>
            <p14:sldId id="277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Title Slides" id="{487FAE89-1E44-D042-96E9-1D92907BA97C}">
          <p14:sldIdLst/>
        </p14:section>
        <p14:section name="SmartArt and Graphs" id="{C11978B5-63E1-BF4A-B829-75D710C94B2C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DB00"/>
    <a:srgbClr val="2CBBAB"/>
    <a:srgbClr val="E1192B"/>
    <a:srgbClr val="E11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38"/>
    <p:restoredTop sz="94681"/>
  </p:normalViewPr>
  <p:slideViewPr>
    <p:cSldViewPr snapToGrid="0" snapToObjects="1">
      <p:cViewPr varScale="1">
        <p:scale>
          <a:sx n="120" d="100"/>
          <a:sy n="120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customXml" Target="../customXml/item3.xml"/><Relationship Id="rId18" Type="http://schemas.openxmlformats.org/officeDocument/2006/relationships/customXml" Target="../customXml/item2.xml"/><Relationship Id="rId17" Type="http://schemas.openxmlformats.org/officeDocument/2006/relationships/customXml" Target="../customXml/item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0B893-2D33-C143-95DB-B9BF721B1FC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03E4E-4774-E944-990E-761C025100E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3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3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18913" y="1596789"/>
            <a:ext cx="6637296" cy="6637296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5824589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58245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4101" y="368300"/>
            <a:ext cx="4552951" cy="6325056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1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31373" y="1122363"/>
            <a:ext cx="6096807" cy="2387600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31373" y="3602038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34531" y="1248552"/>
            <a:ext cx="7075199" cy="707519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2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5824589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58245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4101" y="368300"/>
            <a:ext cx="4552951" cy="632505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1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31373" y="1122363"/>
            <a:ext cx="6096807" cy="2387600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31373" y="3602038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36610" y="1248551"/>
            <a:ext cx="7075199" cy="707519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Section Page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838200" y="4515556"/>
            <a:ext cx="9829800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2001"/>
            <a:ext cx="10515600" cy="4351338"/>
          </a:xfrm>
        </p:spPr>
        <p:txBody>
          <a:bodyPr/>
          <a:lstStyle>
            <a:lvl1pPr>
              <a:defRPr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838201" y="1332089"/>
            <a:ext cx="9810044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302419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692001"/>
            <a:ext cx="10515600" cy="4351338"/>
          </a:xfrm>
        </p:spPr>
        <p:txBody>
          <a:bodyPr/>
          <a:lstStyle>
            <a:lvl1pPr>
              <a:defRPr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1" y="1332089"/>
            <a:ext cx="9810044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38200" y="302419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0170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4944533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44533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5995" y="1825625"/>
            <a:ext cx="5181600" cy="4351338"/>
          </a:xfrm>
        </p:spPr>
        <p:txBody>
          <a:bodyPr/>
          <a:lstStyle>
            <a:lvl1pPr>
              <a:defRPr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690688"/>
            <a:ext cx="494453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4944533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44533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553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1" y="6397397"/>
            <a:ext cx="2688771" cy="240173"/>
          </a:xfrm>
          <a:prstGeom prst="rect">
            <a:avLst/>
          </a:prstGeom>
        </p:spPr>
      </p:pic>
      <p:cxnSp>
        <p:nvCxnSpPr>
          <p:cNvPr id="16" name="Straight Connector 15"/>
          <p:cNvCxnSpPr/>
          <p:nvPr userDrawn="1"/>
        </p:nvCxnSpPr>
        <p:spPr>
          <a:xfrm>
            <a:off x="838200" y="1690688"/>
            <a:ext cx="494453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4944533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44533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690688"/>
            <a:ext cx="494453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0"/>
          </p:nvPr>
        </p:nvSpPr>
        <p:spPr>
          <a:xfrm>
            <a:off x="6535995" y="1825625"/>
            <a:ext cx="4944533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150761" y="1825625"/>
            <a:ext cx="0" cy="4571772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4944533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44533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1" y="6397397"/>
            <a:ext cx="2688771" cy="240173"/>
          </a:xfrm>
          <a:prstGeom prst="rect">
            <a:avLst/>
          </a:prstGeom>
        </p:spPr>
      </p:pic>
      <p:cxnSp>
        <p:nvCxnSpPr>
          <p:cNvPr id="16" name="Straight Connector 15"/>
          <p:cNvCxnSpPr/>
          <p:nvPr userDrawn="1"/>
        </p:nvCxnSpPr>
        <p:spPr>
          <a:xfrm>
            <a:off x="838200" y="1690688"/>
            <a:ext cx="494453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6150761" y="1825625"/>
            <a:ext cx="0" cy="4571772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/>
          <p:cNvSpPr>
            <a:spLocks noGrp="1"/>
          </p:cNvSpPr>
          <p:nvPr>
            <p:ph sz="half" idx="10"/>
          </p:nvPr>
        </p:nvSpPr>
        <p:spPr>
          <a:xfrm>
            <a:off x="6553200" y="1825625"/>
            <a:ext cx="4944533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4974772" y="0"/>
            <a:ext cx="7217229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285750" indent="-285750">
              <a:buFont typeface="Arial" panose="020B0604020202090204" pitchFamily="34" charset="0"/>
              <a:buChar char="•"/>
              <a:defRPr sz="1600">
                <a:latin typeface="Real Text Pro" charset="0"/>
                <a:ea typeface="Real Text Pro" charset="0"/>
                <a:cs typeface="Real Text Pro" charset="0"/>
              </a:defRPr>
            </a:lvl1pPr>
            <a:lvl2pPr marL="742950" indent="-285750">
              <a:buFont typeface="Arial" panose="020B0604020202090204" pitchFamily="34" charset="0"/>
              <a:buChar char="•"/>
              <a:defRPr sz="1400"/>
            </a:lvl2pPr>
            <a:lvl3pPr marL="1085850" indent="-171450">
              <a:buFont typeface="Arial" panose="020B0604020202090204" pitchFamily="34" charset="0"/>
              <a:buChar char="•"/>
              <a:defRPr sz="1200"/>
            </a:lvl3pPr>
            <a:lvl4pPr marL="1543050" indent="-171450">
              <a:buFont typeface="Arial" panose="020B0604020202090204" pitchFamily="34" charset="0"/>
              <a:buChar char="•"/>
              <a:defRPr sz="1000"/>
            </a:lvl4pPr>
            <a:lvl5pPr marL="2000250" indent="-171450">
              <a:buFont typeface="Arial" panose="020B0604020202090204" pitchFamily="34" charset="0"/>
              <a:buChar char="•"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37976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 dirty="0"/>
              <a:t>Title Here – Image on Black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8201" y="1841630"/>
            <a:ext cx="3933825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576888" y="1262590"/>
            <a:ext cx="6183312" cy="396557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5102578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285750" indent="-285750">
              <a:buFont typeface="Arial" panose="020B0604020202090204" pitchFamily="34" charset="0"/>
              <a:buChar char="•"/>
              <a:defRPr sz="16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742950" indent="-285750">
              <a:buFont typeface="Arial" panose="020B0604020202090204" pitchFamily="34" charset="0"/>
              <a:buChar char="•"/>
              <a:defRPr sz="1400">
                <a:solidFill>
                  <a:schemeClr val="bg1"/>
                </a:solidFill>
              </a:defRPr>
            </a:lvl2pPr>
            <a:lvl3pPr marL="1085850" indent="-171450">
              <a:buFont typeface="Arial" panose="020B060402020209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379768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 dirty="0"/>
              <a:t>Title Here – Image on White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38201" y="1841630"/>
            <a:ext cx="3933825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576888" y="1262590"/>
            <a:ext cx="6183312" cy="396557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with 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4963887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55343" y="558800"/>
            <a:ext cx="6588301" cy="137976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 dirty="0"/>
              <a:t>Title – Full Bleed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5343" y="2159000"/>
            <a:ext cx="6588301" cy="3811588"/>
          </a:xfrm>
        </p:spPr>
        <p:txBody>
          <a:bodyPr/>
          <a:lstStyle>
            <a:lvl1pPr marL="285750" indent="-285750">
              <a:buFont typeface="Arial" panose="020B0604020202090204" pitchFamily="34" charset="0"/>
              <a:buChar char="•"/>
              <a:defRPr sz="16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742950" indent="-285750">
              <a:buFont typeface="Arial" panose="020B060402020209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1085850" indent="-171450">
              <a:buFont typeface="Arial" panose="020B060402020209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353755" y="1917531"/>
            <a:ext cx="6589889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-109973" y="-44532"/>
            <a:ext cx="5226933" cy="69470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with 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4989689" y="-1"/>
            <a:ext cx="7202311" cy="69025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55343" y="558800"/>
            <a:ext cx="6588301" cy="1379768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 dirty="0"/>
              <a:t>Title – Full Bleed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5343" y="2159000"/>
            <a:ext cx="6588301" cy="3811588"/>
          </a:xfrm>
        </p:spPr>
        <p:txBody>
          <a:bodyPr/>
          <a:lstStyle>
            <a:lvl1pPr marL="285750" indent="-285750">
              <a:buFont typeface="Arial" panose="020B0604020202090204" pitchFamily="34" charset="0"/>
              <a:buChar char="•"/>
              <a:defRPr sz="16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742950" indent="-285750">
              <a:buFont typeface="Arial" panose="020B0604020202090204" pitchFamily="34" charset="0"/>
              <a:buChar char="•"/>
              <a:defRPr sz="1400">
                <a:solidFill>
                  <a:schemeClr val="bg1"/>
                </a:solidFill>
              </a:defRPr>
            </a:lvl2pPr>
            <a:lvl3pPr marL="1085850" indent="-171450">
              <a:buFont typeface="Arial" panose="020B060402020209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353755" y="1917531"/>
            <a:ext cx="6589889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-237244" y="-44532"/>
            <a:ext cx="5226933" cy="69470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	</a:t>
            </a:r>
            <a:endParaRPr lang="en-US" dirty="0"/>
          </a:p>
          <a:p>
            <a:r>
              <a:rPr lang="en-US" dirty="0"/>
              <a:t>	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>
            <a:alpha val="4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 userDrawn="1"/>
        </p:nvCxnSpPr>
        <p:spPr>
          <a:xfrm>
            <a:off x="838201" y="1332089"/>
            <a:ext cx="9766571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– Chart Example</a:t>
            </a:r>
            <a:endParaRPr lang="en-US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838200" y="1843088"/>
            <a:ext cx="10515600" cy="424815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Pr>
        <a:solidFill>
          <a:schemeClr val="bg1">
            <a:alpha val="4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 userDrawn="1"/>
        </p:nvCxnSpPr>
        <p:spPr>
          <a:xfrm>
            <a:off x="838201" y="1332089"/>
            <a:ext cx="9766571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– SmartArt Example</a:t>
            </a:r>
            <a:endParaRPr lang="en-US" dirty="0"/>
          </a:p>
        </p:txBody>
      </p:sp>
      <p:sp>
        <p:nvSpPr>
          <p:cNvPr id="6" name="SmartArt Placeholder 5"/>
          <p:cNvSpPr>
            <a:spLocks noGrp="1"/>
          </p:cNvSpPr>
          <p:nvPr>
            <p:ph type="dgm" sz="quarter" idx="1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>
            <a:alpha val="4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 userDrawn="1"/>
        </p:nvCxnSpPr>
        <p:spPr>
          <a:xfrm>
            <a:off x="838201" y="1332089"/>
            <a:ext cx="9766571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– Table Example</a:t>
            </a:r>
            <a:endParaRPr lang="en-US" dirty="0"/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1"/>
          </p:nvPr>
        </p:nvSpPr>
        <p:spPr>
          <a:xfrm>
            <a:off x="838200" y="1690688"/>
            <a:ext cx="10515600" cy="441007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3090" y="1206500"/>
            <a:ext cx="5839012" cy="1524000"/>
          </a:xfrm>
        </p:spPr>
        <p:txBody>
          <a:bodyPr>
            <a:normAutofit/>
          </a:bodyPr>
          <a:lstStyle>
            <a:lvl1pPr algn="ctr">
              <a:defRPr sz="6000" b="1" i="0">
                <a:latin typeface="Real Text Pro Demibold" charset="0"/>
                <a:ea typeface="Real Text Pro Demibold" charset="0"/>
                <a:cs typeface="Real Text Pro Demibold" charset="0"/>
              </a:defRPr>
            </a:lvl1pPr>
          </a:lstStyle>
          <a:p>
            <a:r>
              <a:rPr lang="en-US" dirty="0"/>
              <a:t>Thank You!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514600" y="2997200"/>
            <a:ext cx="737044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09995" y="3528579"/>
            <a:ext cx="3505201" cy="23368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_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43090" y="1206500"/>
            <a:ext cx="5839012" cy="1524000"/>
          </a:xfrm>
        </p:spPr>
        <p:txBody>
          <a:bodyPr>
            <a:normAutofit/>
          </a:bodyPr>
          <a:lstStyle>
            <a:lvl1pPr algn="ctr">
              <a:defRPr sz="6000" b="1" i="0">
                <a:latin typeface="Real Text Pro Demibold" charset="0"/>
                <a:ea typeface="Real Text Pro Demibold" charset="0"/>
                <a:cs typeface="Real Text Pro Demibold" charset="0"/>
              </a:defRPr>
            </a:lvl1pPr>
          </a:lstStyle>
          <a:p>
            <a:r>
              <a:rPr lang="en-US" dirty="0"/>
              <a:t>Thank You!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514600" y="2997200"/>
            <a:ext cx="737044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09993" y="3528578"/>
            <a:ext cx="3505203" cy="2336801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3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3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18913" y="1596789"/>
            <a:ext cx="6637296" cy="6637296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5824589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58245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4101" y="368300"/>
            <a:ext cx="4552951" cy="6325056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1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31373" y="1122363"/>
            <a:ext cx="6096807" cy="2387600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31373" y="3602038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34531" y="1248552"/>
            <a:ext cx="7075199" cy="707519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2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5824589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58245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4101" y="368300"/>
            <a:ext cx="4552951" cy="632505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1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31373" y="1122363"/>
            <a:ext cx="6096807" cy="2387600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31373" y="3602038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36610" y="1248551"/>
            <a:ext cx="7075199" cy="707519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Section Page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838200" y="4515556"/>
            <a:ext cx="9829800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2001"/>
            <a:ext cx="10515600" cy="4351338"/>
          </a:xfrm>
        </p:spPr>
        <p:txBody>
          <a:bodyPr/>
          <a:lstStyle>
            <a:lvl1pPr>
              <a:defRPr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838201" y="1332089"/>
            <a:ext cx="9810044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302419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692001"/>
            <a:ext cx="10515600" cy="4351338"/>
          </a:xfrm>
        </p:spPr>
        <p:txBody>
          <a:bodyPr/>
          <a:lstStyle>
            <a:lvl1pPr>
              <a:defRPr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1" y="1332089"/>
            <a:ext cx="9810044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38200" y="302419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0170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4944533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44533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5995" y="1825625"/>
            <a:ext cx="5181600" cy="4351338"/>
          </a:xfrm>
        </p:spPr>
        <p:txBody>
          <a:bodyPr/>
          <a:lstStyle>
            <a:lvl1pPr>
              <a:defRPr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690688"/>
            <a:ext cx="494453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4944533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44533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553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1" y="6397397"/>
            <a:ext cx="2688771" cy="240173"/>
          </a:xfrm>
          <a:prstGeom prst="rect">
            <a:avLst/>
          </a:prstGeom>
        </p:spPr>
      </p:pic>
      <p:cxnSp>
        <p:nvCxnSpPr>
          <p:cNvPr id="16" name="Straight Connector 15"/>
          <p:cNvCxnSpPr/>
          <p:nvPr userDrawn="1"/>
        </p:nvCxnSpPr>
        <p:spPr>
          <a:xfrm>
            <a:off x="838200" y="1690688"/>
            <a:ext cx="494453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4944533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44533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690688"/>
            <a:ext cx="494453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0"/>
          </p:nvPr>
        </p:nvSpPr>
        <p:spPr>
          <a:xfrm>
            <a:off x="6535995" y="1825625"/>
            <a:ext cx="4944533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150761" y="1825625"/>
            <a:ext cx="0" cy="4571772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4944533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44533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1" y="6397397"/>
            <a:ext cx="2688771" cy="240173"/>
          </a:xfrm>
          <a:prstGeom prst="rect">
            <a:avLst/>
          </a:prstGeom>
        </p:spPr>
      </p:pic>
      <p:cxnSp>
        <p:nvCxnSpPr>
          <p:cNvPr id="16" name="Straight Connector 15"/>
          <p:cNvCxnSpPr/>
          <p:nvPr userDrawn="1"/>
        </p:nvCxnSpPr>
        <p:spPr>
          <a:xfrm>
            <a:off x="838200" y="1690688"/>
            <a:ext cx="494453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6150761" y="1825625"/>
            <a:ext cx="0" cy="4571772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/>
          <p:cNvSpPr>
            <a:spLocks noGrp="1"/>
          </p:cNvSpPr>
          <p:nvPr>
            <p:ph sz="half" idx="10"/>
          </p:nvPr>
        </p:nvSpPr>
        <p:spPr>
          <a:xfrm>
            <a:off x="6553200" y="1825625"/>
            <a:ext cx="4944533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4974772" y="0"/>
            <a:ext cx="7217229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285750" indent="-285750">
              <a:buFont typeface="Arial" panose="020B0604020202090204" pitchFamily="34" charset="0"/>
              <a:buChar char="•"/>
              <a:defRPr sz="1600">
                <a:latin typeface="Real Text Pro" charset="0"/>
                <a:ea typeface="Real Text Pro" charset="0"/>
                <a:cs typeface="Real Text Pro" charset="0"/>
              </a:defRPr>
            </a:lvl1pPr>
            <a:lvl2pPr marL="742950" indent="-285750">
              <a:buFont typeface="Arial" panose="020B0604020202090204" pitchFamily="34" charset="0"/>
              <a:buChar char="•"/>
              <a:defRPr sz="1400"/>
            </a:lvl2pPr>
            <a:lvl3pPr marL="1085850" indent="-171450">
              <a:buFont typeface="Arial" panose="020B0604020202090204" pitchFamily="34" charset="0"/>
              <a:buChar char="•"/>
              <a:defRPr sz="1200"/>
            </a:lvl3pPr>
            <a:lvl4pPr marL="1543050" indent="-171450">
              <a:buFont typeface="Arial" panose="020B0604020202090204" pitchFamily="34" charset="0"/>
              <a:buChar char="•"/>
              <a:defRPr sz="1000"/>
            </a:lvl4pPr>
            <a:lvl5pPr marL="2000250" indent="-171450">
              <a:buFont typeface="Arial" panose="020B0604020202090204" pitchFamily="34" charset="0"/>
              <a:buChar char="•"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37976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 dirty="0"/>
              <a:t>Title Here – Image on Black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8201" y="1841630"/>
            <a:ext cx="3933825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576888" y="1262590"/>
            <a:ext cx="6183312" cy="396557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5102578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285750" indent="-285750">
              <a:buFont typeface="Arial" panose="020B0604020202090204" pitchFamily="34" charset="0"/>
              <a:buChar char="•"/>
              <a:defRPr sz="16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742950" indent="-285750">
              <a:buFont typeface="Arial" panose="020B0604020202090204" pitchFamily="34" charset="0"/>
              <a:buChar char="•"/>
              <a:defRPr sz="1400">
                <a:solidFill>
                  <a:schemeClr val="bg1"/>
                </a:solidFill>
              </a:defRPr>
            </a:lvl2pPr>
            <a:lvl3pPr marL="1085850" indent="-171450">
              <a:buFont typeface="Arial" panose="020B060402020209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379768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 dirty="0"/>
              <a:t>Title Here – Image on White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38201" y="1841630"/>
            <a:ext cx="3933825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576888" y="1262590"/>
            <a:ext cx="6183312" cy="396557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with 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4963887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55343" y="558800"/>
            <a:ext cx="6588301" cy="137976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 dirty="0"/>
              <a:t>Title – Full Bleed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5343" y="2159000"/>
            <a:ext cx="6588301" cy="3811588"/>
          </a:xfrm>
        </p:spPr>
        <p:txBody>
          <a:bodyPr/>
          <a:lstStyle>
            <a:lvl1pPr marL="285750" indent="-285750">
              <a:buFont typeface="Arial" panose="020B0604020202090204" pitchFamily="34" charset="0"/>
              <a:buChar char="•"/>
              <a:defRPr sz="16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742950" indent="-285750">
              <a:buFont typeface="Arial" panose="020B060402020209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1085850" indent="-171450">
              <a:buFont typeface="Arial" panose="020B060402020209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353755" y="1917531"/>
            <a:ext cx="6589889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-109973" y="-44532"/>
            <a:ext cx="5226933" cy="69470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with 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4989689" y="-1"/>
            <a:ext cx="7202311" cy="69025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55343" y="558800"/>
            <a:ext cx="6588301" cy="1379768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 dirty="0"/>
              <a:t>Title – Full Bleed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5343" y="2159000"/>
            <a:ext cx="6588301" cy="3811588"/>
          </a:xfrm>
        </p:spPr>
        <p:txBody>
          <a:bodyPr/>
          <a:lstStyle>
            <a:lvl1pPr marL="285750" indent="-285750">
              <a:buFont typeface="Arial" panose="020B0604020202090204" pitchFamily="34" charset="0"/>
              <a:buChar char="•"/>
              <a:defRPr sz="16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742950" indent="-285750">
              <a:buFont typeface="Arial" panose="020B0604020202090204" pitchFamily="34" charset="0"/>
              <a:buChar char="•"/>
              <a:defRPr sz="1400">
                <a:solidFill>
                  <a:schemeClr val="bg1"/>
                </a:solidFill>
              </a:defRPr>
            </a:lvl2pPr>
            <a:lvl3pPr marL="1085850" indent="-171450">
              <a:buFont typeface="Arial" panose="020B060402020209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353755" y="1917531"/>
            <a:ext cx="6589889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-237244" y="-44532"/>
            <a:ext cx="5226933" cy="69470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	</a:t>
            </a:r>
            <a:endParaRPr lang="en-US" dirty="0"/>
          </a:p>
          <a:p>
            <a:r>
              <a:rPr lang="en-US" dirty="0"/>
              <a:t>	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>
            <a:alpha val="4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 userDrawn="1"/>
        </p:nvCxnSpPr>
        <p:spPr>
          <a:xfrm>
            <a:off x="838201" y="1332089"/>
            <a:ext cx="9766571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– Chart Example</a:t>
            </a:r>
            <a:endParaRPr lang="en-US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838200" y="1843088"/>
            <a:ext cx="10515600" cy="424815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Pr>
        <a:solidFill>
          <a:schemeClr val="bg1">
            <a:alpha val="4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 userDrawn="1"/>
        </p:nvCxnSpPr>
        <p:spPr>
          <a:xfrm>
            <a:off x="838201" y="1332089"/>
            <a:ext cx="9766571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– SmartArt Example</a:t>
            </a:r>
            <a:endParaRPr lang="en-US" dirty="0"/>
          </a:p>
        </p:txBody>
      </p:sp>
      <p:sp>
        <p:nvSpPr>
          <p:cNvPr id="6" name="SmartArt Placeholder 5"/>
          <p:cNvSpPr>
            <a:spLocks noGrp="1"/>
          </p:cNvSpPr>
          <p:nvPr>
            <p:ph type="dgm" sz="quarter" idx="1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>
            <a:alpha val="4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 userDrawn="1"/>
        </p:nvCxnSpPr>
        <p:spPr>
          <a:xfrm>
            <a:off x="838201" y="1332089"/>
            <a:ext cx="9766571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– Table Example</a:t>
            </a:r>
            <a:endParaRPr lang="en-US" dirty="0"/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1"/>
          </p:nvPr>
        </p:nvSpPr>
        <p:spPr>
          <a:xfrm>
            <a:off x="838200" y="1690688"/>
            <a:ext cx="10515600" cy="441007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3090" y="1206500"/>
            <a:ext cx="5839012" cy="1524000"/>
          </a:xfrm>
        </p:spPr>
        <p:txBody>
          <a:bodyPr>
            <a:normAutofit/>
          </a:bodyPr>
          <a:lstStyle>
            <a:lvl1pPr algn="ctr">
              <a:defRPr sz="6000" b="1" i="0">
                <a:latin typeface="Real Text Pro Demibold" charset="0"/>
                <a:ea typeface="Real Text Pro Demibold" charset="0"/>
                <a:cs typeface="Real Text Pro Demibold" charset="0"/>
              </a:defRPr>
            </a:lvl1pPr>
          </a:lstStyle>
          <a:p>
            <a:r>
              <a:rPr lang="en-US" dirty="0"/>
              <a:t>Thank You!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514600" y="2997200"/>
            <a:ext cx="737044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09995" y="3528579"/>
            <a:ext cx="3505201" cy="23368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_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43090" y="1206500"/>
            <a:ext cx="5839012" cy="1524000"/>
          </a:xfrm>
        </p:spPr>
        <p:txBody>
          <a:bodyPr>
            <a:normAutofit/>
          </a:bodyPr>
          <a:lstStyle>
            <a:lvl1pPr algn="ctr">
              <a:defRPr sz="6000" b="1" i="0">
                <a:latin typeface="Real Text Pro Demibold" charset="0"/>
                <a:ea typeface="Real Text Pro Demibold" charset="0"/>
                <a:cs typeface="Real Text Pro Demibold" charset="0"/>
              </a:defRPr>
            </a:lvl1pPr>
          </a:lstStyle>
          <a:p>
            <a:r>
              <a:rPr lang="en-US" dirty="0"/>
              <a:t>Thank You!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514600" y="2997200"/>
            <a:ext cx="737044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09993" y="3528578"/>
            <a:ext cx="3505203" cy="2336801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2" Type="http://schemas.openxmlformats.org/officeDocument/2006/relationships/theme" Target="../theme/theme2.xml"/><Relationship Id="rId21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Northeastern Brand Template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0170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eal Head Pro" charset="0"/>
          <a:ea typeface="Real Head Pro" charset="0"/>
          <a:cs typeface="Real Head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Northeastern Brand Template - Neutral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0170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eal Head Pro" charset="0"/>
          <a:ea typeface="Real Head Pro" charset="0"/>
          <a:cs typeface="Real Head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tags" Target="../tags/tag17.xml"/><Relationship Id="rId3" Type="http://schemas.openxmlformats.org/officeDocument/2006/relationships/image" Target="../media/image11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tags" Target="../tags/tag20.xml"/><Relationship Id="rId3" Type="http://schemas.openxmlformats.org/officeDocument/2006/relationships/image" Target="../media/image12.png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tags" Target="../tags/tag23.xml"/><Relationship Id="rId3" Type="http://schemas.openxmlformats.org/officeDocument/2006/relationships/image" Target="../media/image13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tags" Target="../tags/tag26.xml"/><Relationship Id="rId3" Type="http://schemas.openxmlformats.org/officeDocument/2006/relationships/image" Target="../media/image14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tags" Target="../tags/tag29.xml"/><Relationship Id="rId3" Type="http://schemas.openxmlformats.org/officeDocument/2006/relationships/image" Target="../media/image15.png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190" y="474980"/>
            <a:ext cx="8702675" cy="2387600"/>
          </a:xfrm>
        </p:spPr>
        <p:txBody>
          <a:bodyPr>
            <a:normAutofit/>
          </a:bodyPr>
          <a:lstStyle/>
          <a:p>
            <a:r>
              <a:rPr lang="en-US" dirty="0"/>
              <a:t>MaAs On Benchmark</a:t>
            </a:r>
            <a:endParaRPr lang="en-US" dirty="0"/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r>
              <a:rPr lang="en-US" altLang="zh-CN"/>
              <a:t>yang lu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Test Overview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Test Dataset: theoremqa</a:t>
            </a:r>
            <a:endParaRPr lang="en-US" altLang="zh-CN"/>
          </a:p>
          <a:p>
            <a:r>
              <a:rPr lang="en-US" altLang="zh-CN"/>
              <a:t>Number of Test Samples: 50 questions</a:t>
            </a:r>
            <a:endParaRPr lang="en-US" altLang="zh-CN"/>
          </a:p>
          <a:p>
            <a:r>
              <a:rPr lang="en-US" altLang="zh-CN"/>
              <a:t>model：</a:t>
            </a:r>
            <a:r>
              <a:rPr lang="en-US" altLang="zh-CN">
                <a:sym typeface="+mn-ea"/>
              </a:rPr>
              <a:t>MaAS </a:t>
            </a:r>
            <a:endParaRPr lang="en-US" altLang="zh-CN"/>
          </a:p>
          <a:p>
            <a:r>
              <a:rPr lang="en-US" altLang="zh-CN"/>
              <a:t>Success Rate: 100% </a:t>
            </a:r>
            <a:endParaRPr lang="en-US" altLang="zh-CN"/>
          </a:p>
          <a:p>
            <a:r>
              <a:rPr lang="en-US" altLang="zh-CN"/>
              <a:t>Test Environment: DeepSeek-reasoner model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Search Failure Possibilities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Although all current tests were successful, search may fail in the following situations:</a:t>
            </a:r>
            <a:endParaRPr lang="en-US" altLang="zh-CN"/>
          </a:p>
          <a:p>
            <a:r>
              <a:rPr lang="en-US" altLang="zh-CN"/>
              <a:t>Complex problems requiring dynamic workflow switching</a:t>
            </a:r>
            <a:endParaRPr lang="en-US" altLang="zh-CN"/>
          </a:p>
          <a:p>
            <a:r>
              <a:rPr lang="en-US" altLang="zh-CN"/>
              <a:t>Real-time computation problems requiring external tool calls</a:t>
            </a:r>
            <a:endParaRPr lang="en-US" altLang="zh-CN"/>
          </a:p>
          <a:p>
            <a:r>
              <a:rPr lang="en-US" altLang="zh-CN"/>
              <a:t>Understanding problems with multimodal inputs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 Analysis of Most Complex Successful Cases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05435" y="3020060"/>
            <a:ext cx="3619500" cy="4759325"/>
          </a:xfrm>
        </p:spPr>
        <p:txBody>
          <a:bodyPr/>
          <a:p>
            <a:pPr marL="0" indent="0">
              <a:buNone/>
            </a:pPr>
            <a:r>
              <a:rPr lang="en-US" altLang="zh-CN"/>
              <a:t> </a:t>
            </a:r>
            <a:endParaRPr lang="en-US" altLang="en-US"/>
          </a:p>
          <a:p>
            <a:r>
              <a:rPr lang="en-US" altLang="zh-CN"/>
              <a:t>Problem: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Compute $\int_{|z| = 1} z^2 sin(1/z) dz$. The answer is Ai with i denoting the imaginary unit, what is A?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2482215" y="1313815"/>
            <a:ext cx="931545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TheoremQAParser </a:t>
            </a:r>
            <a:r>
              <a:rPr lang="en-US" altLang="en-US"/>
              <a:t>→</a:t>
            </a:r>
            <a:r>
              <a:rPr lang="en-US" altLang="zh-CN"/>
              <a:t> TheoremQAKnowledgeRetriever </a:t>
            </a:r>
            <a:r>
              <a:rPr lang="en-US" altLang="en-US"/>
              <a:t>→</a:t>
            </a:r>
            <a:r>
              <a:rPr lang="en-US" altLang="zh-CN"/>
              <a:t> TheoremQAReasoner</a:t>
            </a:r>
            <a:endParaRPr lang="en-US" altLang="zh-CN"/>
          </a:p>
          <a:p>
            <a:r>
              <a:rPr lang="en-US" altLang="zh-CN"/>
              <a:t>       </a:t>
            </a:r>
            <a:r>
              <a:rPr lang="en-US" altLang="en-US"/>
              <a:t>↓</a:t>
            </a:r>
            <a:r>
              <a:rPr lang="en-US" altLang="zh-CN"/>
              <a:t>                              </a:t>
            </a:r>
            <a:r>
              <a:rPr lang="en-US" altLang="en-US"/>
              <a:t>↓</a:t>
            </a:r>
            <a:r>
              <a:rPr lang="en-US" altLang="zh-CN"/>
              <a:t>                                            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zh-CN"/>
              <a:t>Identified as            Retrieved complex                              Applied residue</a:t>
            </a:r>
            <a:endParaRPr lang="en-US" altLang="zh-CN"/>
          </a:p>
          <a:p>
            <a:r>
              <a:rPr lang="en-US" altLang="zh-CN"/>
              <a:t>calculation             analysis concepts                                 theorem</a:t>
            </a:r>
            <a:endParaRPr lang="en-US" altLang="zh-CN"/>
          </a:p>
          <a:p>
            <a:r>
              <a:rPr lang="en-US" altLang="zh-CN"/>
              <a:t>problem                   (empty)                                              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zh-CN"/>
              <a:t>                                                                                   Laurent series</a:t>
            </a:r>
            <a:endParaRPr lang="en-US" altLang="zh-CN"/>
          </a:p>
          <a:p>
            <a:r>
              <a:rPr lang="en-US" altLang="zh-CN"/>
              <a:t>                                                                                  expansion</a:t>
            </a:r>
            <a:endParaRPr lang="en-US" altLang="zh-CN"/>
          </a:p>
          <a:p>
            <a:r>
              <a:rPr lang="en-US" altLang="zh-CN"/>
              <a:t>                                                                                     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zh-CN"/>
              <a:t>                                                                                Essential singularity</a:t>
            </a:r>
            <a:endParaRPr lang="en-US" altLang="zh-CN"/>
          </a:p>
          <a:p>
            <a:r>
              <a:rPr lang="en-US" altLang="zh-CN"/>
              <a:t>                                                                                  handling</a:t>
            </a:r>
            <a:endParaRPr lang="en-US" altLang="zh-CN"/>
          </a:p>
          <a:p>
            <a:r>
              <a:rPr lang="en-US" altLang="zh-CN"/>
              <a:t>                                                                                 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zh-CN"/>
              <a:t>                                                                               Answer: $-\frac{\pi}{3}$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Analysis of Most </a:t>
            </a:r>
            <a:br>
              <a:rPr lang="en-US" altLang="zh-CN"/>
            </a:br>
            <a:r>
              <a:rPr lang="en-US" altLang="zh-CN"/>
              <a:t>Complex Successful </a:t>
            </a:r>
            <a:br>
              <a:rPr lang="en-US" altLang="zh-CN"/>
            </a:br>
            <a:r>
              <a:rPr lang="en-US" altLang="zh-CN"/>
              <a:t>Cases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2098675"/>
            <a:ext cx="3874770" cy="4759325"/>
          </a:xfrm>
        </p:spPr>
        <p:txBody>
          <a:bodyPr/>
          <a:p>
            <a:r>
              <a:rPr lang="en-US" altLang="zh-CN"/>
              <a:t>Problem:Determine if the set ${F(x)=\int_0^x f(t) dt | f \in M }$ is sequentially compact</a:t>
            </a:r>
            <a:endParaRPr lang="en-US" altLang="zh-CN"/>
          </a:p>
        </p:txBody>
      </p:sp>
      <p:pic>
        <p:nvPicPr>
          <p:cNvPr id="7" name="图片 6" descr="deepseek_mermaid_20251201_5da29f"/>
          <p:cNvPicPr>
            <a:picLocks noChangeAspect="1"/>
          </p:cNvPicPr>
          <p:nvPr/>
        </p:nvPicPr>
        <p:blipFill>
          <a:blip r:embed="rId3"/>
          <a:srcRect t="11459" b="7481"/>
          <a:stretch>
            <a:fillRect/>
          </a:stretch>
        </p:blipFill>
        <p:spPr>
          <a:xfrm>
            <a:off x="6624320" y="635"/>
            <a:ext cx="4953000" cy="68567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Analysis of Most </a:t>
            </a: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Complex Successful </a:t>
            </a: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Cases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2098675"/>
            <a:ext cx="4493895" cy="4759325"/>
          </a:xfrm>
        </p:spPr>
        <p:txBody>
          <a:bodyPr/>
          <a:p>
            <a:r>
              <a:rPr lang="en-US" altLang="zh-CN"/>
              <a:t>Problem: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How many ways to divide 8 elements into 5 non-empty ordered subsets?</a:t>
            </a:r>
            <a:endParaRPr lang="en-US" altLang="zh-CN"/>
          </a:p>
        </p:txBody>
      </p:sp>
      <p:pic>
        <p:nvPicPr>
          <p:cNvPr id="5" name="图片 4" descr="deepseek_mermaid_20251201_6a240d"/>
          <p:cNvPicPr>
            <a:picLocks noChangeAspect="1"/>
          </p:cNvPicPr>
          <p:nvPr/>
        </p:nvPicPr>
        <p:blipFill>
          <a:blip r:embed="rId3"/>
          <a:srcRect t="8695" b="8746"/>
          <a:stretch>
            <a:fillRect/>
          </a:stretch>
        </p:blipFill>
        <p:spPr>
          <a:xfrm>
            <a:off x="6433185" y="-137795"/>
            <a:ext cx="5144135" cy="71335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Analysis of Most </a:t>
            </a: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Complex Successful </a:t>
            </a: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Cases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38530" y="2661285"/>
            <a:ext cx="3199765" cy="4759325"/>
          </a:xfrm>
        </p:spPr>
        <p:txBody>
          <a:bodyPr/>
          <a:p>
            <a:r>
              <a:rPr lang="en-US" altLang="zh-CN" sz="2000"/>
              <a:t>Problem:</a:t>
            </a:r>
            <a:endParaRPr lang="en-US" altLang="zh-CN" sz="2000"/>
          </a:p>
          <a:p>
            <a:pPr marL="0" indent="0">
              <a:buNone/>
            </a:pPr>
            <a:r>
              <a:rPr lang="en-US" altLang="zh-CN" sz="2000"/>
              <a:t>Solve $2x^3 + e^x = 10$ using Newton-Raphson method</a:t>
            </a:r>
            <a:endParaRPr lang="en-US" altLang="zh-CN" sz="2000"/>
          </a:p>
        </p:txBody>
      </p:sp>
      <p:pic>
        <p:nvPicPr>
          <p:cNvPr id="4" name="图片 3" descr="deepseek_mermaid_20251201_9aa0ba"/>
          <p:cNvPicPr>
            <a:picLocks noChangeAspect="1"/>
          </p:cNvPicPr>
          <p:nvPr/>
        </p:nvPicPr>
        <p:blipFill>
          <a:blip r:embed="rId3"/>
          <a:srcRect t="8870" b="10969"/>
          <a:stretch>
            <a:fillRect/>
          </a:stretch>
        </p:blipFill>
        <p:spPr>
          <a:xfrm>
            <a:off x="5851525" y="0"/>
            <a:ext cx="536130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4525" y="608400"/>
            <a:ext cx="10969200" cy="705600"/>
          </a:xfrm>
        </p:spPr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Analysis of Most </a:t>
            </a: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Complex Successful </a:t>
            </a: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Cases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98475" y="2647315"/>
            <a:ext cx="3639820" cy="4759325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Problem:</a:t>
            </a:r>
            <a:endParaRPr lang="en-US" altLang="zh-CN" sz="2400"/>
          </a:p>
          <a:p>
            <a:pPr marL="0" indent="0">
              <a:buNone/>
            </a:pPr>
            <a:r>
              <a:rPr lang="en-US" altLang="zh-CN" sz="2400"/>
              <a:t>Calculate Earth's escape velocity</a:t>
            </a:r>
            <a:endParaRPr lang="en-US" altLang="zh-CN" sz="2400"/>
          </a:p>
        </p:txBody>
      </p:sp>
      <p:pic>
        <p:nvPicPr>
          <p:cNvPr id="5" name="图片 4" descr="deepseek_mermaid_20251201_a0573c"/>
          <p:cNvPicPr>
            <a:picLocks noChangeAspect="1"/>
          </p:cNvPicPr>
          <p:nvPr/>
        </p:nvPicPr>
        <p:blipFill>
          <a:blip r:embed="rId3"/>
          <a:srcRect t="8870" b="8759"/>
          <a:stretch>
            <a:fillRect/>
          </a:stretch>
        </p:blipFill>
        <p:spPr>
          <a:xfrm>
            <a:off x="5245100" y="0"/>
            <a:ext cx="6633210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04870" y="70"/>
            <a:ext cx="10969200" cy="705600"/>
          </a:xfrm>
        </p:spPr>
        <p:txBody>
          <a:bodyPr/>
          <a:p>
            <a:r>
              <a:rPr lang="zh-CN" altLang="en-US" u="sng"/>
              <a:t>Termin</a:t>
            </a:r>
            <a:r>
              <a:rPr lang="en-US" altLang="zh-CN" u="sng"/>
              <a:t>al Results </a:t>
            </a:r>
            <a:endParaRPr lang="en-US" altLang="zh-CN" u="sng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截屏2025-11-30 18.11.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" y="552450"/>
            <a:ext cx="11838940" cy="63055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Northeastern Brand Theme">
  <a:themeElements>
    <a:clrScheme name="Brand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2CBBAB"/>
      </a:accent1>
      <a:accent2>
        <a:srgbClr val="FDBB45"/>
      </a:accent2>
      <a:accent3>
        <a:srgbClr val="375575"/>
      </a:accent3>
      <a:accent4>
        <a:srgbClr val="F58155"/>
      </a:accent4>
      <a:accent5>
        <a:srgbClr val="5BC9E1"/>
      </a:accent5>
      <a:accent6>
        <a:srgbClr val="006DB7"/>
      </a:accent6>
      <a:hlink>
        <a:srgbClr val="D3192B"/>
      </a:hlink>
      <a:folHlink>
        <a:srgbClr val="DB192B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rtheastern Brand Theme - Neutral">
  <a:themeElements>
    <a:clrScheme name="Brand Neutral 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B192B"/>
      </a:accent1>
      <a:accent2>
        <a:srgbClr val="000000"/>
      </a:accent2>
      <a:accent3>
        <a:srgbClr val="99A3B0"/>
      </a:accent3>
      <a:accent4>
        <a:srgbClr val="A19993"/>
      </a:accent4>
      <a:accent5>
        <a:srgbClr val="E5D3AB"/>
      </a:accent5>
      <a:accent6>
        <a:srgbClr val="A38049"/>
      </a:accent6>
      <a:hlink>
        <a:srgbClr val="D3192B"/>
      </a:hlink>
      <a:folHlink>
        <a:srgbClr val="DB192B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ma:contentTypeDescription="Create a new document." ma:versionID="dbd3055a9bd7bd726c5563da58489bc0" ct:_="" ma:_="" ma:contentTypeScope="" ma:contentTypeName="Document" ma:contentTypeID="0x01010073D63F8989A150479D8981903E704DB9" ma:contentTypeVersion="16">
  <xsd:schema xmlns:xs="http://www.w3.org/2001/XMLSchema" xmlns:p="http://schemas.microsoft.com/office/2006/metadata/properties" xmlns:ns3="e9952153-5aa5-42e8-8300-ccc6398e6c31" xmlns:ns2="f2f4b622-14a2-4900-ac90-91282fb4a44a" xmlns:ns4="51d97cdc-b6db-4601-84f5-42b627fc45e3" xmlns:xsd="http://www.w3.org/2001/XMLSchema" ns4:_="" ns3:_="" ns2:_="" ma:root="true" ma:fieldsID="1c83712626ffe81ec278b699d08b48c3" targetNamespace="http://schemas.microsoft.com/office/2006/metadata/properties">
    <xsd:import namespace="f2f4b622-14a2-4900-ac90-91282fb4a44a"/>
    <xsd:import namespace="e9952153-5aa5-42e8-8300-ccc6398e6c31"/>
    <xsd:import namespace="51d97cdc-b6db-4601-84f5-42b627fc45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</xsd:all>
            </xsd:complexType>
          </xsd:element>
        </xsd:sequence>
      </xsd:complexType>
    </xsd:element>
  </xsd:schema>
  <xsd:schema xmlns:xs="http://www.w3.org/2001/XMLSchema" xmlns:pc="http://schemas.microsoft.com/office/infopath/2007/PartnerControls" xmlns:dms="http://schemas.microsoft.com/office/2006/documentManagement/types" xmlns:xsd="http://www.w3.org/2001/XMLSchema" elementFormDefault="qualified" targetNamespace="f2f4b622-14a2-4900-ac90-91282fb4a44a">
    <xsd:import namespace="http://schemas.microsoft.com/office/2006/documentManagement/types"/>
    <xsd:import namespace="http://schemas.microsoft.com/office/infopath/2007/PartnerControls"/>
    <xsd:element ma:index="8" ma:displayName="MediaServiceMetadata" ma:readOnly="true" name="MediaServiceMetadata" ma:internalName="MediaServiceMetadata" ma:hidden="true" nillable="true">
      <xsd:simpleType>
        <xsd:restriction base="dms:Note"/>
      </xsd:simpleType>
    </xsd:element>
    <xsd:element ma:index="9" ma:displayName="MediaServiceFastMetadata" ma:readOnly="true" name="MediaServiceFastMetadata" ma:internalName="MediaServiceFastMetadata" ma:hidden="true" nillable="true">
      <xsd:simpleType>
        <xsd:restriction base="dms:Note"/>
      </xsd:simpleType>
    </xsd:element>
    <xsd:element ma:index="10" ma:displayName="MediaServiceDateTaken" ma:readOnly="true" name="MediaServiceDateTaken" ma:internalName="MediaServiceDateTaken" ma:hidden="true" nillable="true">
      <xsd:simpleType>
        <xsd:restriction base="dms:Text"/>
      </xsd:simpleType>
    </xsd:element>
    <xsd:element ma:index="11" ma:displayName="MediaServiceGenerationTime" ma:readOnly="true" name="MediaServiceGenerationTime" ma:internalName="MediaServiceGenerationTime" ma:hidden="true" nillable="true">
      <xsd:simpleType>
        <xsd:restriction base="dms:Text"/>
      </xsd:simpleType>
    </xsd:element>
    <xsd:element ma:index="12" ma:displayName="MediaServiceEventHashCode" ma:readOnly="true" name="MediaServiceEventHashCode" ma:internalName="MediaServiceEventHashCode" ma:hidden="true" nillable="true">
      <xsd:simpleType>
        <xsd:restriction base="dms:Text"/>
      </xsd:simpleType>
    </xsd:element>
    <xsd:element ma:index="13" ma:displayName="Extracted Text" ma:readOnly="true" name="MediaServiceOCR" ma:internalName="MediaServiceOCR" nillable="true">
      <xsd:simpleType>
        <xsd:restriction base="dms:Note">
          <xsd:maxLength value="255"/>
        </xsd:restriction>
      </xsd:simpleType>
    </xsd:element>
    <xsd:element ma:index="14" ma:displayName="Length (seconds)" ma:readOnly="true" name="MediaLengthInSeconds" ma:internalName="MediaLengthInSeconds" nillable="true">
      <xsd:simpleType>
        <xsd:restriction base="dms:Unknown"/>
      </xsd:simpleType>
    </xsd:element>
    <xsd:element ma:index="15" ma:displayName="Location" ma:readOnly="true" name="MediaServiceLocation" ma:internalName="MediaServiceLocation" nillable="true">
      <xsd:simpleType>
        <xsd:restriction base="dms:Text"/>
      </xsd:simpleType>
    </xsd:element>
    <xsd:element ma:index="16" ma:displayName="MediaServiceAutoKeyPoints" ma:readOnly="true" name="MediaServiceAutoKeyPoints" ma:internalName="MediaServiceAutoKeyPoints" ma:hidden="true" nillable="true">
      <xsd:simpleType>
        <xsd:restriction base="dms:Note"/>
      </xsd:simpleType>
    </xsd:element>
    <xsd:element ma:index="17" ma:displayName="KeyPoints" ma:readOnly="true" name="MediaServiceKeyPoints" ma:internalName="MediaServiceKeyPoints" nillable="true">
      <xsd:simpleType>
        <xsd:restriction base="dms:Note">
          <xsd:maxLength value="255"/>
        </xsd:restriction>
      </xsd:simpleType>
    </xsd:element>
    <xsd:element ma:taxonomyMulti="true" ma:anchorId="fba54fb3-c3e1-fe81-a776-ca4b69148c4d" ma:index="19" ma:taxonomyFieldName="MediaServiceImageTags" ma:displayName="Image Tags" ma:readOnly="false" ma:open="true" name="lcf76f155ced4ddcb4097134ff3c332f" ma:fieldId="{5cf76f15-5ced-4ddc-b409-7134ff3c332f}" ma:internalName="lcf76f155ced4ddcb4097134ff3c332f" ma:isKeyword="false" nillable="true" ma:termSetId="09814cd3-568e-fe90-9814-8d621ff8fb84" ma:taxonomy="true" ma:sspId="99a8f194-becd-4f93-a34b-b9b3045b7873">
      <xsd:complexType>
        <xsd:sequence>
          <xsd:element ref="pc:Terms" minOccurs="0" maxOccurs="1"/>
        </xsd:sequence>
      </xsd:complexType>
    </xsd:element>
  </xsd:schema>
  <xsd:schema xmlns:xs="http://www.w3.org/2001/XMLSchema" xmlns:pc="http://schemas.microsoft.com/office/infopath/2007/PartnerControls" xmlns:dms="http://schemas.microsoft.com/office/2006/documentManagement/types" xmlns:xsd="http://www.w3.org/2001/XMLSchema" elementFormDefault="qualified" targetNamespace="e9952153-5aa5-42e8-8300-ccc6398e6c31">
    <xsd:import namespace="http://schemas.microsoft.com/office/2006/documentManagement/types"/>
    <xsd:import namespace="http://schemas.microsoft.com/office/infopath/2007/PartnerControls"/>
    <xsd:element ma:index="20" ma:list="{112a2b03-17e5-4b40-b593-f19783b4f3f3}" ma:displayName="Taxonomy Catch All Column" name="TaxCatchAll" ma:web="51d97cdc-b6db-4601-84f5-42b627fc45e3" ma:internalName="TaxCatchAll" ma:hidden="true" nillable="true" ma:showField="CatchAllData">
      <xsd:complexType>
        <xsd:complexContent>
          <xsd:extension base="dms:MultiChoiceLookup">
            <xsd:sequence>
              <xsd:element type="dms:Lookup" minOccurs="0" name="Value" nillable="true" maxOccurs="unbounded"/>
            </xsd:sequence>
          </xsd:extension>
        </xsd:complexContent>
      </xsd:complexType>
    </xsd:element>
  </xsd:schema>
  <xsd:schema xmlns:xs="http://www.w3.org/2001/XMLSchema" xmlns:pc="http://schemas.microsoft.com/office/infopath/2007/PartnerControls" xmlns:dms="http://schemas.microsoft.com/office/2006/documentManagement/types" xmlns:xsd="http://www.w3.org/2001/XMLSchema" elementFormDefault="qualified" targetNamespace="51d97cdc-b6db-4601-84f5-42b627fc45e3">
    <xsd:import namespace="http://schemas.microsoft.com/office/2006/documentManagement/types"/>
    <xsd:import namespace="http://schemas.microsoft.com/office/infopath/2007/PartnerControls"/>
    <xsd:element ma:index="21" ma:displayName="Shared With" ma:readOnly="true" name="SharedWithUsers" ma:internalName="SharedWithUsers" nillable="true">
      <xsd:complexType>
        <xsd:complexContent>
          <xsd:extension base="dms:UserMulti">
            <xsd:sequence>
              <xsd:element minOccurs="0" name="UserInfo" maxOccurs="unbounded">
                <xsd:complexType>
                  <xsd:sequence>
                    <xsd:element type="xsd:string" minOccurs="0" name="DisplayName"/>
                    <xsd:element type="dms:UserId" minOccurs="0" name="AccountId" nillable="true"/>
                    <xsd:element type="xsd:string" minOccurs="0" name="AccountType"/>
                  </xsd:sequence>
                </xsd:complexType>
              </xsd:element>
            </xsd:sequence>
          </xsd:extension>
        </xsd:complexContent>
      </xsd:complexType>
    </xsd:element>
    <xsd:element ma:index="22" ma:displayName="Shared With Details" ma:readOnly="true" name="SharedWithDetails" ma:internalName="SharedWithDetails" nillable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odoc="http://schemas.microsoft.com/internal/obd" xmlns:xsi="http://www.w3.org/2001/XMLSchema-instance" xmlns:dc="http://purl.org/dc/elements/1.1/" xmlns:dcterms="http://purl.org/dc/terms/" xmlns:xsd="http://www.w3.org/2001/XMLSchema" attributeFormDefault="unqualified" elementFormDefault="qualified" targetNamespace="http://schemas.openxmlformats.org/package/2006/metadata/core-properties" blockDefault="#all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type="CT_coreProperties" name="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ma:index="0" type="xsd:string" ma:displayName="Content Type" minOccurs="0" name="contentType" maxOccurs="1"/>
        <xsd:element ma:index="4" ref="dc:title" ma:displayName="Title" minOccurs="0" maxOccurs="1"/>
        <xsd:element ref="dc:subject" minOccurs="0" maxOccurs="1"/>
        <xsd:element ref="dc:description" minOccurs="0" maxOccurs="1"/>
        <xsd:element type="xsd:string" minOccurs="0" name="keywords" maxOccurs="1"/>
        <xsd:element ref="dc:language" minOccurs="0" maxOccurs="1"/>
        <xsd:element type="xsd:string" minOccurs="0" name="category" maxOccurs="1"/>
        <xsd:element type="xsd:string" minOccurs="0" name="version" maxOccurs="1"/>
        <xsd:element type="xsd:string" minOccurs="0" name="revision" maxOccurs="1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type="xsd:string" minOccurs="0" name="lastModifiedBy" maxOccurs="1"/>
        <xsd:element ref="dcterms:modified" minOccurs="0" maxOccurs="1"/>
        <xsd:element type="xsd:string" minOccurs="0" name="contentStatus" maxOccurs="1"/>
      </xsd:all>
    </xsd:complexType>
  </xsd:schema>
  <xs:schema xmlns:xs="http://www.w3.org/2001/XMLSchema" xmlns:pc="http://schemas.microsoft.com/office/infopath/2007/PartnerControls" attributeFormDefault="unqualified" elementFormDefault="qualified" targetNamespace="http://schemas.microsoft.com/office/infopath/2007/PartnerControls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type="xs:string" name="TermName"/>
    <xs:element type="xs:string" name="TermId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52153-5aa5-42e8-8300-ccc6398e6c31" xsi:nil="true"/>
    <lcf76f155ced4ddcb4097134ff3c332f xmlns="f2f4b622-14a2-4900-ac90-91282fb4a44a">
      <Terms xmlns="http://schemas.microsoft.com/office/infopath/2007/PartnerControls"/>
    </lcf76f155ced4ddcb4097134ff3c332f>
  </documentManagement>
</p:properties>
</file>

<file path=customXml/itemProps30.xml><?xml version="1.0" encoding="utf-8"?>
<ds:datastoreItem xmlns:ds="http://schemas.openxmlformats.org/officeDocument/2006/customXml" ds:itemID="{F97D8747-688E-4394-A03F-9322944B3AAD}">
  <ds:schemaRefs/>
</ds:datastoreItem>
</file>

<file path=customXml/itemProps31.xml><?xml version="1.0" encoding="utf-8"?>
<ds:datastoreItem xmlns:ds="http://schemas.openxmlformats.org/officeDocument/2006/customXml" ds:itemID="{1F86C7E4-23A5-430B-8F2D-449F7A20B4B5}">
  <ds:schemaRefs/>
</ds:datastoreItem>
</file>

<file path=customXml/itemProps32.xml><?xml version="1.0" encoding="utf-8"?>
<ds:datastoreItem xmlns:ds="http://schemas.openxmlformats.org/officeDocument/2006/customXml" ds:itemID="{EB914AFD-2560-4360-AF03-770A744EBEF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2123</Words>
  <Application>WPS 演示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30" baseType="lpstr">
      <vt:lpstr>Arial</vt:lpstr>
      <vt:lpstr>宋体</vt:lpstr>
      <vt:lpstr>Wingdings</vt:lpstr>
      <vt:lpstr>Real Head Pro</vt:lpstr>
      <vt:lpstr>苹方-简</vt:lpstr>
      <vt:lpstr>Arial</vt:lpstr>
      <vt:lpstr>Real Text Pro</vt:lpstr>
      <vt:lpstr>Real Text Pro Demibold</vt:lpstr>
      <vt:lpstr>微软雅黑</vt:lpstr>
      <vt:lpstr>汉仪旗黑</vt:lpstr>
      <vt:lpstr>宋体</vt:lpstr>
      <vt:lpstr>Arial Unicode MS</vt:lpstr>
      <vt:lpstr>Calibri</vt:lpstr>
      <vt:lpstr>Helvetica Neue</vt:lpstr>
      <vt:lpstr>DengXian</vt:lpstr>
      <vt:lpstr>汉仪中等线KW</vt:lpstr>
      <vt:lpstr>汉仪书宋二KW</vt:lpstr>
      <vt:lpstr>quote-cjk-patch</vt:lpstr>
      <vt:lpstr>Thonburi</vt:lpstr>
      <vt:lpstr>Northeastern Brand Theme</vt:lpstr>
      <vt:lpstr>Northeastern Brand Theme - Neutral</vt:lpstr>
      <vt:lpstr>Branded PowerPoint </vt:lpstr>
      <vt:lpstr>Test Overview</vt:lpstr>
      <vt:lpstr>Search Failure Possibilities</vt:lpstr>
      <vt:lpstr> Analysis of Most Complex Successful Cases</vt:lpstr>
      <vt:lpstr>Analysis of Most  Complex Successful  Cases </vt:lpstr>
      <vt:lpstr>Analysis of Most  Complex Successful  Cases</vt:lpstr>
      <vt:lpstr>Analysis of Most  Complex Successful  Cases</vt:lpstr>
      <vt:lpstr>Analysis of Most  Complex Successful  Cases</vt:lpstr>
      <vt:lpstr>Terminal Results Show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Title Here</dc:title>
  <dc:creator>Elliott, Emily</dc:creator>
  <cp:lastModifiedBy>卢</cp:lastModifiedBy>
  <cp:revision>78</cp:revision>
  <cp:lastPrinted>2025-12-02T03:50:07Z</cp:lastPrinted>
  <dcterms:created xsi:type="dcterms:W3CDTF">2025-12-02T03:50:07Z</dcterms:created>
  <dcterms:modified xsi:type="dcterms:W3CDTF">2025-12-02T03:50:07Z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0x01010073D63F8989A150479D8981903E704DB9</vt:lpwstr>
  </property>
  <property fmtid="{D5CDD505-2E9C-101B-9397-08002B2CF9AE}" pid="3" name="MediaServiceImageTags">
    <vt:lpwstr/>
  </property>
  <property fmtid="{D5CDD505-2E9C-101B-9397-08002B2CF9AE}" pid="4" name="ICV">
    <vt:lpwstr>01F88143A80F55E0057F066877F53ABF_43</vt:lpwstr>
  </property>
  <property fmtid="{D5CDD505-2E9C-101B-9397-08002B2CF9AE}" pid="5" name="KSOProductBuildVer">
    <vt:lpwstr>2052-12.1.23540.23540</vt:lpwstr>
  </property>
</Properties>
</file>